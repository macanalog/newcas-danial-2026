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C8D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NEWCAS 2026   ·   LECTURE   ·   JUNE 22,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Shaping &amp; Pareto Optimality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Analog IC Design Automation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36576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pPr indent="0" marL="0">
              <a:buNone/>
            </a:pPr>
            <a:r>
              <a:rPr lang="en-US" sz="1800" dirty="0">
                <a:solidFill>
                  <a:srgbClr val="F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score function decides whether automated transistor sizing succeeds.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" y="452628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score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35808" y="452628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Danial Noori Zadeh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9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MacAnalog  ·  McMaster University — Electrical &amp; Computer Engineering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9808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McMaster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</a:t>
            </a:r>
            <a:pPr indent="0" marL="0">
              <a:buNone/>
            </a:pPr>
            <a:r>
              <a:rPr lang="en-US" sz="1600" dirty="0">
                <a:solidFill>
                  <a:srgbClr val="E9B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|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·   SPEAKER &amp; GROUP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MacAnalog — analog design automation at McMaster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Danial Noori Zadeh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Computer Engineering, McMaster University. Building open tooling that puts </a:t>
            </a:r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formulation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just the solver — at the centre of analog sizing.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SpiceXplorer: YAML-driven black-box optimization over SPICE.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talk: a controlled study of how the score-function shape changes what the optimizer finds.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766767" cy="4297680"/>
          </a:xfrm>
          <a:prstGeom prst="roundRect">
            <a:avLst>
              <a:gd name="adj" fmla="val 1915"/>
            </a:avLst>
          </a:prstGeom>
          <a:solidFill>
            <a:srgbClr val="7A00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1828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9C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7269480" y="3063240"/>
            <a:ext cx="3943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for the next 12 minutes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69480" y="3520440"/>
            <a:ext cx="394380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FB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</a:t>
            </a:r>
            <a:pPr indent="0" marL="0">
              <a:lnSpc>
                <a:spcPct val="112000"/>
              </a:lnSpc>
              <a:buNone/>
            </a:pPr>
            <a:r>
              <a:rPr lang="en-US" sz="1800" b="1" i="1" u="sng" dirty="0">
                <a:solidFill>
                  <a:srgbClr val="FB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formulation</a:t>
            </a:r>
            <a:pPr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FB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matters as much as the solver. A bounded (sigmoid) score meets every spec where the unbounded (linear) baseline silently blows the current budget — and finds </a:t>
            </a:r>
            <a:pPr indent="0" marL="0">
              <a:lnSpc>
                <a:spcPct val="112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~2× lower-power</a:t>
            </a:r>
            <a:pPr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FB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designs.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·  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Sizing is a constrained, multi-objective trade-off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specs live on wildly different scales — and how you normalize them decides what the optimizer chases.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46040" cy="3657600"/>
          </a:xfrm>
          <a:prstGeom prst="roundRect">
            <a:avLst>
              <a:gd name="adj" fmla="val 2250"/>
            </a:avLst>
          </a:prstGeom>
          <a:solidFill>
            <a:srgbClr val="F7F7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42316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926080"/>
            <a:ext cx="4705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parameter vector x (widths, lengths, biases) that meets hard targets T, then maximizes a figure of merit.</a:t>
            </a:r>
            <a:endParaRPr lang="en-US" sz="15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are application-dependent: bandwidth, gain, noise, power, phase margin, settling — all at once.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2148840"/>
            <a:ext cx="5346040" cy="3657600"/>
          </a:xfrm>
          <a:prstGeom prst="roundRect">
            <a:avLst>
              <a:gd name="adj" fmla="val 2250"/>
            </a:avLst>
          </a:prstGeom>
          <a:solidFill>
            <a:srgbClr val="F7F7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242316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926080"/>
            <a:ext cx="470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over-fixates on the solver; the score function is under-studied.</a:t>
            </a:r>
            <a:endParaRPr lang="en-US" sz="15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ill-shaped objective stalls even a strong optimizer.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98768" y="443484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827368" y="4434840"/>
            <a:ext cx="443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 MHz bandwidth error and a 100% power error live on totally different scales. Normalize them wrong and one drowns the other.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·   FRAMING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satisfaction, then a single fitness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first (drive every penalty to zero), then bank reward beyond spec — one scalar F(x).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46040" cy="3657600"/>
          </a:xfrm>
          <a:prstGeom prst="roundRect">
            <a:avLst>
              <a:gd name="adj" fmla="val 2250"/>
            </a:avLst>
          </a:prstGeom>
          <a:solidFill>
            <a:srgbClr val="F7F7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404872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penalty per metric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6968" y="301752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24328" y="2990088"/>
            <a:ext cx="306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max(0,  T − m)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6968" y="38862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24328" y="3858768"/>
            <a:ext cx="306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max(0,  m − 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475488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7A003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754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24328" y="4727448"/>
            <a:ext cx="306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| m − T |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" y="530352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measured metric, T = target. Zero penalty = spec met.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2148840"/>
            <a:ext cx="5346040" cy="3657600"/>
          </a:xfrm>
          <a:prstGeom prst="roundRect">
            <a:avLst>
              <a:gd name="adj" fmla="val 2250"/>
            </a:avLst>
          </a:prstGeom>
          <a:solidFill>
            <a:srgbClr val="F7F7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98768" y="2404872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Dual-mode fitness  F(x)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98768" y="3017520"/>
            <a:ext cx="4705960" cy="1143000"/>
          </a:xfrm>
          <a:prstGeom prst="roundRect">
            <a:avLst>
              <a:gd name="adj" fmla="val 48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7368" y="3154680"/>
            <a:ext cx="443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INFEASIBLE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27368" y="3447288"/>
            <a:ext cx="443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− Σ Pᵢ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3904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(push penalties → 0)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98768" y="4343400"/>
            <a:ext cx="4705960" cy="1143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7368" y="4480560"/>
            <a:ext cx="443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FEASIBLE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27368" y="4773168"/>
            <a:ext cx="443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+ reward(x)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98768" y="5367528"/>
            <a:ext cx="470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F = 0 means every constraint is met.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·   METHOD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shaping: bound the penalty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(red)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p/|T|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grows without limit — one outlier dominates. Sigmoid (blue) saturates at 1 — balance beats peaks.</a:t>
            </a:r>
            <a:endParaRPr lang="en-US" sz="1550" dirty="0"/>
          </a:p>
        </p:txBody>
      </p:sp>
      <p:pic>
        <p:nvPicPr>
          <p:cNvPr id="5" name="Image 0" descr="/sessions/gallant-admiring-edison/mnt/newcas-danial-2026/plots/static/1_squash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148" y="2057400"/>
            <a:ext cx="765739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355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sigmoid penalty mapping · α sets the saturation rate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·   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masking effect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linear scoring, a metric just outside spec loses its share of the cost as another metric drifts — its violation is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bounded sigmoid keeps it visible.</a:t>
            </a:r>
            <a:endParaRPr lang="en-US" sz="1550" dirty="0"/>
          </a:p>
        </p:txBody>
      </p:sp>
      <p:pic>
        <p:nvPicPr>
          <p:cNvPr id="5" name="Image 0" descr="/sessions/gallant-admiring-edison/mnt/newcas-danial-2026/plots/static/2_masking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148" y="2057400"/>
            <a:ext cx="765739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355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share kept by a near-feasible metric (rel. error 0.30) as another drifts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·   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Telescopic cascode OTA — IHP 130 nm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 design space (W/L + biases). Three engines, same targets, a resource-constrained budget.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94360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sessions/gallant-admiring-edison/mnt/newcas-danial-2026/assets/fig2_ota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323" y="2194560"/>
            <a:ext cx="5358809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943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telescopic cascode OTA, ideal bias (paper Fig. 2)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011680"/>
          <a:ext cx="4766767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Unity-gain freq.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&gt;200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&gt;40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&lt;1.2 mV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0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0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 µA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0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± 10°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&lt;15 µs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0" y="5010912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6"/>
          <p:cNvSpPr/>
          <p:nvPr/>
        </p:nvSpPr>
        <p:spPr>
          <a:xfrm>
            <a:off x="7132320" y="4937760"/>
            <a:ext cx="44924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 baseline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 sims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0" y="537667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8"/>
          <p:cNvSpPr/>
          <p:nvPr/>
        </p:nvSpPr>
        <p:spPr>
          <a:xfrm>
            <a:off x="7132320" y="5303520"/>
            <a:ext cx="44924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— the workhorse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sims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858000" y="5742432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5669280"/>
            <a:ext cx="44924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BFGS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sims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58000" y="6190488"/>
            <a:ext cx="47667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V_DD 1.5 V  ·  C_L 50 fF  ·  I_bias 5 µA  ·  14-D search space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·   RESULT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solver, same budget — only the score shape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crosses into feasibility at iteration 1050 and banks reward. Linear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reaches a feasible design in 2,000 sims.</a:t>
            </a:r>
            <a:endParaRPr lang="en-US" sz="1550" dirty="0"/>
          </a:p>
        </p:txBody>
      </p:sp>
      <p:pic>
        <p:nvPicPr>
          <p:cNvPr id="5" name="Image 0" descr="/sessions/gallant-admiring-edison/mnt/newcas-danial-2026/plots/static/5_convergence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95" y="2057400"/>
            <a:ext cx="7741546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2286000"/>
            <a:ext cx="2892247" cy="1828800"/>
          </a:xfrm>
          <a:prstGeom prst="roundRect">
            <a:avLst>
              <a:gd name="adj" fmla="val 4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06840" y="2468880"/>
            <a:ext cx="2343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06840" y="2743200"/>
            <a:ext cx="23436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@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06840" y="3017520"/>
            <a:ext cx="2343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 1050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732520" y="4297680"/>
            <a:ext cx="2892247" cy="1828800"/>
          </a:xfrm>
          <a:prstGeom prst="roundRect">
            <a:avLst>
              <a:gd name="adj" fmla="val 45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06840" y="4480560"/>
            <a:ext cx="2343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06840" y="4754880"/>
            <a:ext cx="23436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designs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006840" y="5029200"/>
            <a:ext cx="2343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2000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·   RESULT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Sigmoid balances every spec; linear blows the current budget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Linear's best maximizes bandwidth &amp; gain but lands at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 µA — 1.75× over the 25 µA budget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Sigmoid meets all six specs at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 µA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masking effect, made real.</a:t>
            </a:r>
            <a:endParaRPr lang="en-US" sz="1550" dirty="0"/>
          </a:p>
        </p:txBody>
      </p:sp>
      <p:pic>
        <p:nvPicPr>
          <p:cNvPr id="5" name="Image 0" descr="/sessions/gallant-admiring-edison/mnt/newcas-danial-2026/plots/static/3_tradeoff_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942" y="2103120"/>
            <a:ext cx="7573252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2331720"/>
            <a:ext cx="2892247" cy="1828800"/>
          </a:xfrm>
          <a:prstGeom prst="roundRect">
            <a:avLst>
              <a:gd name="adj" fmla="val 4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06840" y="2487168"/>
            <a:ext cx="2343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BEST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06840" y="2743200"/>
            <a:ext cx="2343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20.6 µA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9006840" y="3520440"/>
            <a:ext cx="2343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all 6 specs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732520" y="4343400"/>
            <a:ext cx="2892247" cy="1828800"/>
          </a:xfrm>
          <a:prstGeom prst="roundRect">
            <a:avLst>
              <a:gd name="adj" fmla="val 45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06840" y="4498848"/>
            <a:ext cx="2343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06840" y="4754880"/>
            <a:ext cx="23436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43.7 µA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9006840" y="5532120"/>
            <a:ext cx="2343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1.75× over budget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·   RESULT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Why: the equi-score landscape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straight, parallel iso-lines dominated by one axis (the other is masked). Sigmoid → a bounded, concentric basin pulling toward the feasible corner.</a:t>
            </a:r>
            <a:endParaRPr lang="en-US" sz="1550" dirty="0"/>
          </a:p>
        </p:txBody>
      </p:sp>
      <p:pic>
        <p:nvPicPr>
          <p:cNvPr id="5" name="Image 0" descr="/sessions/gallant-admiring-edison/mnt/newcas-danial-2026/plots/static/4_equiscore_cont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148" y="2057400"/>
            <a:ext cx="765739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355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field over bandwidth × current, with real visited points overlaid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·   RESULT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method spends its simulations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keeps unity-gain-frequency diversity while pulling current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 µA. Linear over-concentrates at high UGF and higher power; LHS stalls at the ≈5 µA sub-threshold bias.</a:t>
            </a:r>
            <a:endParaRPr lang="en-US" sz="1550" dirty="0"/>
          </a:p>
        </p:txBody>
      </p:sp>
      <p:pic>
        <p:nvPicPr>
          <p:cNvPr id="5" name="Image 0" descr="/sessions/gallant-admiring-edison/mnt/newcas-danial-2026/plots/static/6_metric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148" y="2057400"/>
            <a:ext cx="765739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355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spec target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·   THE TOOL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SpiceXplorer — the open framework behind this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just saw is one YAML config away.</a:t>
            </a:r>
            <a:endParaRPr lang="en-US" sz="1550" dirty="0"/>
          </a:p>
        </p:txBody>
      </p:sp>
      <p:pic>
        <p:nvPicPr>
          <p:cNvPr id="5" name="Image 0" descr="/sessions/gallant-admiring-edison/mnt/newcas-danial-2026/assets/tool_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137" y="2148840"/>
            <a:ext cx="9033421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521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config orchestrates black-box optimizers (Nevergrad / Ax) against SPICE: metric extraction → score shaping → Pareto / exploration viz.   </a:t>
            </a:r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github.com/MacAnalog/SpiceXplorer · open-source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·   WHERE IT'S GOING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Agentic, topology-aware sizing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3442106" cy="3657600"/>
          </a:xfrm>
          <a:prstGeom prst="roundRect">
            <a:avLst>
              <a:gd name="adj" fmla="val 2391"/>
            </a:avLst>
          </a:prstGeom>
          <a:solidFill>
            <a:srgbClr val="F7F7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423160"/>
            <a:ext cx="28020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86968" y="347472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starts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86968" y="4023360"/>
            <a:ext cx="28020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from circuit theory (gm/ID) instead of cold random search.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74794" y="2103120"/>
            <a:ext cx="3442106" cy="3657600"/>
          </a:xfrm>
          <a:prstGeom prst="roundRect">
            <a:avLst>
              <a:gd name="adj" fmla="val 2391"/>
            </a:avLst>
          </a:prstGeom>
          <a:solidFill>
            <a:srgbClr val="F7F7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4834" y="2423160"/>
            <a:ext cx="28020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94834" y="347472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synthesis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94834" y="4023360"/>
            <a:ext cx="28020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Auto-derive symmetry and biasing constraints to shrink the feasible search.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82661" y="2103120"/>
            <a:ext cx="3442106" cy="3657600"/>
          </a:xfrm>
          <a:prstGeom prst="roundRect">
            <a:avLst>
              <a:gd name="adj" fmla="val 2391"/>
            </a:avLst>
          </a:prstGeom>
          <a:solidFill>
            <a:srgbClr val="F7F7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2701" y="2423160"/>
            <a:ext cx="28020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502701" y="347472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agents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02701" y="4023360"/>
            <a:ext cx="28020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Multi-fidelity orchestration: cheap screens first, full SPICE where it counts.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A0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9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 ·   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Formulation is a first-class lever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44210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28600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834640"/>
            <a:ext cx="28934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Sigmoid met all 6 specs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met 0 / 2000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74794" y="2011680"/>
            <a:ext cx="344210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9114" y="228600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9114" y="2834640"/>
            <a:ext cx="28934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20.6 µA vs 43.7 µA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~2× lower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2661" y="2011680"/>
            <a:ext cx="344210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6981" y="228600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SOLVER &amp; BUDGET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56981" y="2834640"/>
            <a:ext cx="28934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the score shape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" y="480060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66928" y="54864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Danial Noori Zadeh   ·   MacAnalog, McMaster University   ·   github.com/MacAnalog/SpiceXplorer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 Shaping &amp; Pareto Optimality in Analog IC Design Automation</dc:title>
  <dc:subject>PptxGenJS Presentation</dc:subject>
  <dc:creator>Danial Noori Zadeh</dc:creator>
  <cp:lastModifiedBy>Danial Noori Zadeh</cp:lastModifiedBy>
  <cp:revision>1</cp:revision>
  <dcterms:created xsi:type="dcterms:W3CDTF">2026-06-09T02:41:48Z</dcterms:created>
  <dcterms:modified xsi:type="dcterms:W3CDTF">2026-06-09T02:41:48Z</dcterms:modified>
</cp:coreProperties>
</file>